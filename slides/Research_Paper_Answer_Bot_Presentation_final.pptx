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Retrieval Strategy Hit Rate (illustrative)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Hit rate @ 3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Dense</c:v>
                </c:pt>
                <c:pt idx="1">
                  <c:v>MMR</c:v>
                </c:pt>
                <c:pt idx="2">
                  <c:v>Hybrid
(BM25+dense)</c:v>
                </c:pt>
                <c:pt idx="3">
                  <c:v>Cross-encoder
rerank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0.75</c:v>
                </c:pt>
                <c:pt idx="1">
                  <c:v>0.75</c:v>
                </c:pt>
                <c:pt idx="2">
                  <c:v>0.88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36-4C0F-852F-97E2A58514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"/>
        </c:scaling>
        <c:delete val="0"/>
        <c:axPos val="l"/>
        <c:majorGridlines>
          <c:spPr>
            <a:ln w="6350" cap="flat">
              <a:solidFill>
                <a:srgbClr val="E3E7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891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4389120"/>
            <a:ext cx="2743200" cy="274320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PINNACLE PLUS · CAPSTONE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Paper Answer Bot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Retrieval-Augmented Generation system for grounded, cited Q&amp;A over GenAI research papers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  •   Vector Databases   •   LLMs   •   LangChain   •   Embeddings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5394960"/>
            <a:ext cx="32004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5778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Harshitha Karthikeyan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675120" cy="4937760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087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like arXiv maintains a large, curated set of important AI/Data Science research papers. Researchers need fast, trustworthy answers to specific questions across this corpus — without manually searching dozens of PDFs.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RAG system that indexes the papers into a vector database, retrieves the most relevant passages for a query, and generates accurate, grounded answers that cite the exact source paper and page number.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502920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"a simple RAG system" — the brief asks for rigorous exploration of multiple approaches at each stage, with justified final choices.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06640" y="1280160"/>
            <a:ext cx="4297680" cy="4937760"/>
          </a:xfrm>
          <a:prstGeom prst="roundRect">
            <a:avLst>
              <a:gd name="adj" fmla="val 2553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0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Use Case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0" y="2057400"/>
            <a:ext cx="37490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natural-language question about GenAI research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retrieves the most relevant passages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a grounded answer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sources shown: paper title + page number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says "I don't know" rather than hallucinate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Answer Bot — GenAI Pinnacle Plus Capstone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RAG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219456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945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(PDF)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148840" y="26060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331720" y="219456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2331720" y="21945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Chunk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(LangChain)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23360" y="26060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06240" y="219456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21945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(BGE-small)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97880" y="26060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80760" y="219456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6080760" y="21945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(ChromaDB)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0" y="26060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55280" y="219456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21945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+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646920" y="26060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829800" y="2194560"/>
            <a:ext cx="169164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9829800" y="21945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F7F9F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79476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flow: user question → same embedding model → similarity search in ChromaDB → cross-encoder reranks top-20 to top-3 → top-3 chunks + metadata injected into prompt → LLM answers using only that context.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846320"/>
            <a:ext cx="109728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8280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(offline, once)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→ chunk → embed → store in ChromaDB with paper_title + page metadata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5623560"/>
            <a:ext cx="109728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6052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time (per question)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embed → retrieve → rerank → prompt LLM → grounded answer + citations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Answer Bot — GenAI Pinnacle Plus Capstone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Document Loading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seminal Generative AI research papers, downloaded directly from arXiv: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756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08960" y="219456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20756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78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08960" y="269748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2578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815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108960" y="320040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30815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Chinchilla Scaling Laws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5844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InstructGPT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108960" y="370332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35844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2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deliberately: closely related but distinct ideas — a real stress test for retrieval precision.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35040" y="1280160"/>
            <a:ext cx="0" cy="4846320"/>
          </a:xfrm>
          <a:prstGeom prst="line">
            <a:avLst/>
          </a:prstGeom>
          <a:noFill/>
          <a:ln w="25400">
            <a:solidFill>
              <a:srgbClr val="F7F9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2801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Pipeline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9360" y="18288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6812280" y="184708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PyPDFLoader → one Document per page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09360" y="25146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6812280" y="253288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metadata: paper_title, source_file, page number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09360" y="32004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6812280" y="321868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page/char-count distribution per paper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09360" y="38862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6812280" y="390448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near-empty pages (possible OCR/extraction issues)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Answer Bot — GenAI Pinnacle Plus Capstone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Strategy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7F9F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6459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Fixed-size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every N characters, ignoring structure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42062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but slices mid-sentence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0" y="13716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4434840" y="155448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5FBFB0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554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2011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Recursive Character Splitter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26974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→ sentence → word boundary fallback, 800 chars / 120 overlap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42062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— structure-aware, robust to messy PDF text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7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6459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Paragraph-first (semantic-ish)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23317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on double newlines first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75320" y="42062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topical coherence, unreliable on PDFs with irregular layout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Answer Bot — GenAI Pinnacle Plus Capstone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Models — Comparison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2377440"/>
        </p:xfrm>
        <a:graphic>
          <a:graphicData uri="http://schemas.openxmlformats.org/drawingml/2006/table">
            <a:tbl>
              <a:tblPr/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BAAI/bge-small-en-v1.5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(HF)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top-1 ranking on sample queries; strong MTEB benchmark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sentence-transformers/all-MiniLM-L6-v2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(HF)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lightweight; occasionally ranks a tangential chunk first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text-embedding-3-small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(OpenAI)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Tightest ranking when available; adds API cost + dependency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023360"/>
            <a:ext cx="11247120" cy="2011680"/>
          </a:xfrm>
          <a:prstGeom prst="roundRect">
            <a:avLst>
              <a:gd name="adj" fmla="val 4545"/>
            </a:avLst>
          </a:prstGeom>
          <a:solidFill>
            <a:srgbClr val="F7F9FA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42062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Choice: BAAI/bge-small-en-v1.5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" y="461772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retrieval quality among the free, reproducible options — no external API dependency, keeps the pipeline runnable by anyone regardless of budget, and small enough (384-dim) to index quickly while keeping the vector store lightweight.</a:t>
            </a:r>
            <a:endParaRPr lang="en-US" sz="1300" dirty="0"/>
          </a:p>
        </p:txBody>
      </p:sp>
      <p:sp>
        <p:nvSpPr>
          <p:cNvPr id="3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Answer Bot — GenAI Pinnacle Plus Capstone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Database &amp; Retrieval Strategies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DB: ChromaDB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embedded, no server to manage — stores metadata alongside vectors natively, which simplifies citation lookups vs. FAISS's separate docstore.</a:t>
            </a:r>
            <a:endParaRPr lang="en-US" sz="11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2514600"/>
          <a:ext cx="51206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234440"/>
            <a:ext cx="0" cy="5120640"/>
          </a:xfrm>
          <a:prstGeom prst="line">
            <a:avLst/>
          </a:prstGeom>
          <a:noFill/>
          <a:ln w="25400">
            <a:solidFill>
              <a:srgbClr val="F7F9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09360" y="12344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Implemented (4 — only 2 required)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16916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/>
        </p:spPr>
      </p:sp>
      <p:sp>
        <p:nvSpPr>
          <p:cNvPr id="9" name="Text 6"/>
          <p:cNvSpPr/>
          <p:nvPr/>
        </p:nvSpPr>
        <p:spPr>
          <a:xfrm>
            <a:off x="653796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(cosine)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37960" y="2148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vector similarity search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09360" y="27432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/>
        </p:spPr>
      </p:sp>
      <p:sp>
        <p:nvSpPr>
          <p:cNvPr id="12" name="Text 9"/>
          <p:cNvSpPr/>
          <p:nvPr/>
        </p:nvSpPr>
        <p:spPr>
          <a:xfrm>
            <a:off x="6537960" y="2834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37960" y="3200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relevance with diversity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309360" y="37947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/>
        </p:spPr>
      </p:sp>
      <p:sp>
        <p:nvSpPr>
          <p:cNvPr id="15" name="Text 12"/>
          <p:cNvSpPr/>
          <p:nvPr/>
        </p:nvSpPr>
        <p:spPr>
          <a:xfrm>
            <a:off x="6537960" y="3886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(BM25 + dense)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537960" y="4251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+ semantic fusion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309360" y="48463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8" name="Text 15"/>
          <p:cNvSpPr/>
          <p:nvPr/>
        </p:nvSpPr>
        <p:spPr>
          <a:xfrm>
            <a:off x="6537960" y="4937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 — SELECTED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537960" y="5303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Re-scores top-20 candidates for precision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Answer Bot — GenAI Pinnacle Plus Capstone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Pipeline &amp; Prompt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GPT-4.1-mini when an API key is available; automatic fallback to a local open-source model (Qwen2.5-1.5B-Instruct) otherwise — pipeline always runs end-to-end.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(LCEL)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32004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1729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+ rerank top-3 chunks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32004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6301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chunks with source labels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32004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0873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into prompt template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32004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5445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grounded answer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983480"/>
            <a:ext cx="32004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50017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paper title + page to response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280160"/>
            <a:ext cx="5669280" cy="5029200"/>
          </a:xfrm>
          <a:prstGeom prst="roundRect">
            <a:avLst>
              <a:gd name="adj" fmla="val 1818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508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Guardrails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55080" y="2057400"/>
            <a:ext cx="109728" cy="109728"/>
          </a:xfrm>
          <a:prstGeom prst="ellipse">
            <a:avLst/>
          </a:prstGeom>
          <a:solidFill>
            <a:srgbClr val="5FBFB0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901952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 from the provided context passages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2834640"/>
            <a:ext cx="109728" cy="109728"/>
          </a:xfrm>
          <a:prstGeom prst="ellipse">
            <a:avLst/>
          </a:prstGeom>
          <a:solidFill>
            <a:srgbClr val="5FBFB0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2679192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“I don’t know” if context is insufficient — the primary hallucination guard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55080" y="3611880"/>
            <a:ext cx="109728" cy="109728"/>
          </a:xfrm>
          <a:prstGeom prst="ellipse">
            <a:avLst/>
          </a:prstGeom>
          <a:solidFill>
            <a:srgbClr val="5FBFB0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3456432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passage labeled with a source number in the prompt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4389120"/>
            <a:ext cx="109728" cy="109728"/>
          </a:xfrm>
          <a:prstGeom prst="ellipse">
            <a:avLst/>
          </a:prstGeom>
          <a:solidFill>
            <a:srgbClr val="5FBFB0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4233672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attached programmatically after generation (title + page), never left to the LLM to recall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5166360"/>
            <a:ext cx="109728" cy="109728"/>
          </a:xfrm>
          <a:prstGeom prst="ellipse">
            <a:avLst/>
          </a:prstGeom>
          <a:solidFill>
            <a:srgbClr val="5FBFB0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5010912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separates instructions from the retrieved context and the user question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Answer Bot — GenAI Pinnacle Plus Capstone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Demo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2697480"/>
            <a:ext cx="6766560" cy="2834640"/>
          </a:xfrm>
          <a:prstGeom prst="roundRect">
            <a:avLst>
              <a:gd name="adj" fmla="val 3226"/>
            </a:avLst>
          </a:prstGeom>
          <a:solidFill>
            <a:srgbClr val="F7F9F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914400" y="3353024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Q&amp;A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7998" y="3855272"/>
            <a:ext cx="6217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</a:t>
            </a: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purpose of multi-head attention in the Transformer?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 lets the model jointly attend to information from different representation subspaces at different positions (Source 1)...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98080" y="1280160"/>
            <a:ext cx="4206240" cy="2834640"/>
          </a:xfrm>
          <a:prstGeom prst="roundRect">
            <a:avLst>
              <a:gd name="adj" fmla="val 3226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(10 test questions)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1965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875520" y="1965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/ 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875520" y="2651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/ 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0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87552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/ 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5262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8920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Answer Bot — GenAI Pinnacle Plus Capstone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Stretch Goals — 2 Implemented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>
                    <a:alpha val="3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Memory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 are condensed into standalone queries using chat history before retrieval, enabling natural multi-turn conversations without repeating context.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3716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>
                    <a:alpha val="3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App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301752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polished, shareable chat UI on top of the same RAG core — query box, answer, and an expandable sources panel showing paper title + page for every response.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stretch goal was required — both were built to demonstrate depth beyond the minimum scope.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Answer Bot — GenAI Pinnacle Plus Capstone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Learnings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118872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PDF extraction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7830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 and multi-column layouts split awkwardly. Mitigated with chunk overlap so no single boundary loses critical context.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40" dirty="0"/>
          </a:p>
        </p:txBody>
      </p:sp>
      <p:sp>
        <p:nvSpPr>
          <p:cNvPr id="9" name="Text 7"/>
          <p:cNvSpPr/>
          <p:nvPr/>
        </p:nvSpPr>
        <p:spPr>
          <a:xfrm>
            <a:off x="1188720" y="29718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Cross-paper topical overlap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33832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sharing sub-topics (e.g. pretraining objectives) caused ambiguous retrieval. Reranking helped but didn't fully eliminate it.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40" dirty="0"/>
          </a:p>
        </p:txBody>
      </p:sp>
      <p:sp>
        <p:nvSpPr>
          <p:cNvPr id="13" name="Text 11"/>
          <p:cNvSpPr/>
          <p:nvPr/>
        </p:nvSpPr>
        <p:spPr>
          <a:xfrm>
            <a:off x="1188720" y="4572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without an API key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49834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fallback design at every external-dependency point (embeddings, LLM) so anyone can run the notebook end-to-end.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Answer Bot — GenAI Pinnacle Plus Capstone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reproducible RAG pipeline: 8 research papers indexed, 3 embedding models compared, 4 retrieval strategies evaluated, grounded answer generation with source citations, plus conversational memory and a Streamlit demo app.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RAG with web-search fallback (Stretch Option 3)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LLM-as-judge evaluation (RAGAS/DeepEval)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Semantic/topic-aware chunker, compared quantitatively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0" y="17373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1176</Words>
  <Application>Microsoft Office PowerPoint</Application>
  <PresentationFormat>Widescreen</PresentationFormat>
  <Paragraphs>193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WELCOME</cp:lastModifiedBy>
  <cp:revision>2</cp:revision>
  <dcterms:created xsi:type="dcterms:W3CDTF">2026-07-19T05:49:09Z</dcterms:created>
  <dcterms:modified xsi:type="dcterms:W3CDTF">2026-07-19T06:23:40Z</dcterms:modified>
</cp:coreProperties>
</file>